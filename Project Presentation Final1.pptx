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9" r:id="rId5"/>
    <p:sldId id="260" r:id="rId6"/>
    <p:sldId id="272" r:id="rId7"/>
    <p:sldId id="261" r:id="rId8"/>
    <p:sldId id="262" r:id="rId9"/>
    <p:sldId id="273" r:id="rId10"/>
    <p:sldId id="263" r:id="rId11"/>
    <p:sldId id="275" r:id="rId12"/>
    <p:sldId id="284" r:id="rId13"/>
    <p:sldId id="285" r:id="rId14"/>
    <p:sldId id="286" r:id="rId15"/>
    <p:sldId id="278" r:id="rId16"/>
    <p:sldId id="283" r:id="rId17"/>
    <p:sldId id="266" r:id="rId18"/>
    <p:sldId id="267" r:id="rId19"/>
  </p:sldIdLst>
  <p:sldSz cx="18288000" cy="10287000"/>
  <p:notesSz cx="6858000" cy="9144000"/>
  <p:embeddedFontLst>
    <p:embeddedFont>
      <p:font typeface="Alegreya Sans SC" panose="020B0604020202020204" charset="0"/>
      <p:regular r:id="rId21"/>
    </p:embeddedFont>
    <p:embeddedFont>
      <p:font typeface="Alegreya Sans SC Bold" panose="020B0604020202020204" charset="0"/>
      <p:regular r:id="rId22"/>
    </p:embeddedFont>
    <p:embeddedFont>
      <p:font typeface="Fira Sans" panose="020B0503050000020004" pitchFamily="34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3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A15C3-BBAB-4C0F-9F6E-DEC08F296B2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42E04-EC26-4912-9C0C-7275C219B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08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42E04-EC26-4912-9C0C-7275C219BF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39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10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76399" y="2173146"/>
            <a:ext cx="5249238" cy="6896447"/>
          </a:xfrm>
          <a:custGeom>
            <a:avLst/>
            <a:gdLst/>
            <a:ahLst/>
            <a:cxnLst/>
            <a:rect l="l" t="t" r="r" b="b"/>
            <a:pathLst>
              <a:path w="5249238" h="6896447">
                <a:moveTo>
                  <a:pt x="0" y="0"/>
                </a:moveTo>
                <a:lnTo>
                  <a:pt x="5249238" y="0"/>
                </a:lnTo>
                <a:lnTo>
                  <a:pt x="5249238" y="6896447"/>
                </a:lnTo>
                <a:lnTo>
                  <a:pt x="0" y="689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>
            <a:off x="-286818" y="1217407"/>
            <a:ext cx="5208407" cy="6842803"/>
          </a:xfrm>
          <a:custGeom>
            <a:avLst/>
            <a:gdLst/>
            <a:ahLst/>
            <a:cxnLst/>
            <a:rect l="l" t="t" r="r" b="b"/>
            <a:pathLst>
              <a:path w="5208407" h="6842803">
                <a:moveTo>
                  <a:pt x="0" y="0"/>
                </a:moveTo>
                <a:lnTo>
                  <a:pt x="5208407" y="0"/>
                </a:lnTo>
                <a:lnTo>
                  <a:pt x="5208407" y="6842803"/>
                </a:lnTo>
                <a:lnTo>
                  <a:pt x="0" y="684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21589" y="3557484"/>
            <a:ext cx="13366411" cy="3043429"/>
          </a:xfrm>
          <a:custGeom>
            <a:avLst/>
            <a:gdLst/>
            <a:ahLst/>
            <a:cxnLst/>
            <a:rect l="l" t="t" r="r" b="b"/>
            <a:pathLst>
              <a:path w="13366411" h="3043429">
                <a:moveTo>
                  <a:pt x="0" y="0"/>
                </a:moveTo>
                <a:lnTo>
                  <a:pt x="13366411" y="0"/>
                </a:lnTo>
                <a:lnTo>
                  <a:pt x="13366411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72780" y="1866900"/>
            <a:ext cx="6554923" cy="4344083"/>
          </a:xfrm>
          <a:custGeom>
            <a:avLst/>
            <a:gdLst/>
            <a:ahLst/>
            <a:cxnLst/>
            <a:rect l="l" t="t" r="r" b="b"/>
            <a:pathLst>
              <a:path w="6554923" h="4114800">
                <a:moveTo>
                  <a:pt x="0" y="0"/>
                </a:moveTo>
                <a:lnTo>
                  <a:pt x="6554923" y="0"/>
                </a:lnTo>
                <a:lnTo>
                  <a:pt x="6554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80228" y="-659099"/>
            <a:ext cx="11605199" cy="11605199"/>
          </a:xfrm>
          <a:custGeom>
            <a:avLst/>
            <a:gdLst/>
            <a:ahLst/>
            <a:cxnLst/>
            <a:rect l="l" t="t" r="r" b="b"/>
            <a:pathLst>
              <a:path w="11605199" h="11605199">
                <a:moveTo>
                  <a:pt x="0" y="0"/>
                </a:moveTo>
                <a:lnTo>
                  <a:pt x="11605198" y="0"/>
                </a:lnTo>
                <a:lnTo>
                  <a:pt x="11605198" y="11605198"/>
                </a:lnTo>
                <a:lnTo>
                  <a:pt x="0" y="116051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072780" y="3031082"/>
            <a:ext cx="9193638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383"/>
              </a:lnSpc>
            </a:pPr>
            <a:r>
              <a:rPr lang="en-US" sz="14241" spc="3816" dirty="0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70162" y="5124450"/>
            <a:ext cx="8736438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85"/>
              </a:lnSpc>
            </a:pPr>
            <a:r>
              <a:rPr lang="en-US" sz="11866" dirty="0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080307" y="-1732119"/>
            <a:ext cx="8415386" cy="8415386"/>
          </a:xfrm>
          <a:custGeom>
            <a:avLst/>
            <a:gdLst/>
            <a:ahLst/>
            <a:cxnLst/>
            <a:rect l="l" t="t" r="r" b="b"/>
            <a:pathLst>
              <a:path w="8415386" h="8415386">
                <a:moveTo>
                  <a:pt x="0" y="0"/>
                </a:moveTo>
                <a:lnTo>
                  <a:pt x="8415386" y="0"/>
                </a:lnTo>
                <a:lnTo>
                  <a:pt x="8415386" y="8415386"/>
                </a:lnTo>
                <a:lnTo>
                  <a:pt x="0" y="841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527418" y="3184322"/>
            <a:ext cx="12808130" cy="558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7"/>
              </a:lnSpc>
            </a:pPr>
            <a:r>
              <a:rPr lang="en-US" sz="4527" spc="543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▪︎ Ali Ramadan</a:t>
            </a:r>
          </a:p>
          <a:p>
            <a:pPr algn="ctr">
              <a:lnSpc>
                <a:spcPts val="6337"/>
              </a:lnSpc>
            </a:pPr>
            <a:r>
              <a:rPr lang="en-US" sz="4527" spc="543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▪︎ Ali Abaza</a:t>
            </a:r>
          </a:p>
          <a:p>
            <a:pPr algn="ctr">
              <a:lnSpc>
                <a:spcPts val="6337"/>
              </a:lnSpc>
            </a:pPr>
            <a:r>
              <a:rPr lang="en-US" sz="4527" spc="543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▪︎ Abdelrahman Waleed</a:t>
            </a:r>
          </a:p>
          <a:p>
            <a:pPr algn="ctr">
              <a:lnSpc>
                <a:spcPts val="6337"/>
              </a:lnSpc>
            </a:pPr>
            <a:r>
              <a:rPr lang="en-US" sz="4527" spc="543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▪︎ Abdelrahman Salah</a:t>
            </a:r>
          </a:p>
          <a:p>
            <a:pPr algn="ctr">
              <a:lnSpc>
                <a:spcPts val="6337"/>
              </a:lnSpc>
            </a:pPr>
            <a:r>
              <a:rPr lang="en-US" sz="4527" spc="543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▪︎ Abdallah Ashraf</a:t>
            </a:r>
          </a:p>
          <a:p>
            <a:pPr algn="ctr">
              <a:lnSpc>
                <a:spcPts val="6337"/>
              </a:lnSpc>
            </a:pPr>
            <a:r>
              <a:rPr lang="en-US" sz="4527" spc="543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▪︎ Mohamed Osama </a:t>
            </a:r>
          </a:p>
          <a:p>
            <a:pPr algn="ctr">
              <a:lnSpc>
                <a:spcPts val="6337"/>
              </a:lnSpc>
            </a:pPr>
            <a:r>
              <a:rPr lang="en-US" sz="4527" spc="543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▪︎ Ward Ahmed</a:t>
            </a: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>
            <a:off x="853604" y="472515"/>
            <a:ext cx="2952452" cy="3878930"/>
          </a:xfrm>
          <a:custGeom>
            <a:avLst/>
            <a:gdLst/>
            <a:ahLst/>
            <a:cxnLst/>
            <a:rect l="l" t="t" r="r" b="b"/>
            <a:pathLst>
              <a:path w="2952452" h="3878930">
                <a:moveTo>
                  <a:pt x="0" y="0"/>
                </a:moveTo>
                <a:lnTo>
                  <a:pt x="2952453" y="0"/>
                </a:lnTo>
                <a:lnTo>
                  <a:pt x="2952453" y="3878931"/>
                </a:lnTo>
                <a:lnTo>
                  <a:pt x="0" y="3878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609329" y="3260610"/>
            <a:ext cx="8415386" cy="8415386"/>
          </a:xfrm>
          <a:custGeom>
            <a:avLst/>
            <a:gdLst/>
            <a:ahLst/>
            <a:cxnLst/>
            <a:rect l="l" t="t" r="r" b="b"/>
            <a:pathLst>
              <a:path w="8415386" h="8415386">
                <a:moveTo>
                  <a:pt x="0" y="0"/>
                </a:moveTo>
                <a:lnTo>
                  <a:pt x="8415386" y="0"/>
                </a:lnTo>
                <a:lnTo>
                  <a:pt x="8415386" y="8415386"/>
                </a:lnTo>
                <a:lnTo>
                  <a:pt x="0" y="841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0" y="-59259"/>
            <a:ext cx="2952452" cy="3878930"/>
          </a:xfrm>
          <a:custGeom>
            <a:avLst/>
            <a:gdLst/>
            <a:ahLst/>
            <a:cxnLst/>
            <a:rect l="l" t="t" r="r" b="b"/>
            <a:pathLst>
              <a:path w="2952452" h="3878930">
                <a:moveTo>
                  <a:pt x="2952452" y="3878931"/>
                </a:moveTo>
                <a:lnTo>
                  <a:pt x="0" y="3878931"/>
                </a:lnTo>
                <a:lnTo>
                  <a:pt x="0" y="0"/>
                </a:lnTo>
                <a:lnTo>
                  <a:pt x="2952452" y="0"/>
                </a:lnTo>
                <a:lnTo>
                  <a:pt x="2952452" y="387893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81943" y="5876296"/>
            <a:ext cx="2952452" cy="3878930"/>
          </a:xfrm>
          <a:custGeom>
            <a:avLst/>
            <a:gdLst/>
            <a:ahLst/>
            <a:cxnLst/>
            <a:rect l="l" t="t" r="r" b="b"/>
            <a:pathLst>
              <a:path w="2952452" h="3878930">
                <a:moveTo>
                  <a:pt x="0" y="0"/>
                </a:moveTo>
                <a:lnTo>
                  <a:pt x="2952453" y="0"/>
                </a:lnTo>
                <a:lnTo>
                  <a:pt x="2952453" y="3878930"/>
                </a:lnTo>
                <a:lnTo>
                  <a:pt x="0" y="3878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5335548" y="6408070"/>
            <a:ext cx="2952452" cy="3878930"/>
          </a:xfrm>
          <a:custGeom>
            <a:avLst/>
            <a:gdLst/>
            <a:ahLst/>
            <a:cxnLst/>
            <a:rect l="l" t="t" r="r" b="b"/>
            <a:pathLst>
              <a:path w="2952452" h="3878930">
                <a:moveTo>
                  <a:pt x="2952452" y="3878930"/>
                </a:moveTo>
                <a:lnTo>
                  <a:pt x="0" y="3878930"/>
                </a:lnTo>
                <a:lnTo>
                  <a:pt x="0" y="0"/>
                </a:lnTo>
                <a:lnTo>
                  <a:pt x="2952452" y="0"/>
                </a:lnTo>
                <a:lnTo>
                  <a:pt x="2952452" y="387893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784487" y="1071701"/>
            <a:ext cx="871902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Team Members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327163" y="2997071"/>
            <a:ext cx="12808130" cy="4895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The goal of the project is to build a secure, scalable, and well-structured internal network.</a:t>
            </a:r>
          </a:p>
          <a:p>
            <a:pPr algn="l">
              <a:lnSpc>
                <a:spcPts val="5600"/>
              </a:lnSpc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Main objectives:</a:t>
            </a:r>
          </a:p>
          <a:p>
            <a:pPr marL="285750" indent="-285750" algn="l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Use a FortiGate firewall as the main security gateway.</a:t>
            </a:r>
          </a:p>
          <a:p>
            <a:pPr marL="285750" indent="-285750" algn="l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Use a core switch to distribute the network across all departments.</a:t>
            </a:r>
          </a:p>
          <a:p>
            <a:pPr marL="285750" indent="-285750" algn="l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Connect the network to the internet and external routes through a router (R1).</a:t>
            </a:r>
          </a:p>
          <a:p>
            <a:pPr marL="285750" indent="-285750" algn="l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Separate the company into multiple VLANs for better control, performance, and security.</a:t>
            </a:r>
          </a:p>
          <a:p>
            <a:pPr marL="285750" indent="-285750" algn="l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Provide internal services such as servers and monitoring.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84486" y="1253674"/>
            <a:ext cx="8719027" cy="1179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7354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Project Idea</a:t>
            </a: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209211" y="172123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210270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364188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5DE10-7805-0A4A-DA80-221D5E7F7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BA227A-CB71-8248-6636-15BE14C87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B9FF021-1F16-0A7B-DAB1-DDA131A38013}"/>
              </a:ext>
            </a:extLst>
          </p:cNvPr>
          <p:cNvSpPr txBox="1"/>
          <p:nvPr/>
        </p:nvSpPr>
        <p:spPr>
          <a:xfrm>
            <a:off x="870289" y="4041446"/>
            <a:ext cx="12808130" cy="3479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Overall topology flow:</a:t>
            </a:r>
          </a:p>
          <a:p>
            <a:pPr marL="342900" indent="-342900" algn="l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The FortiGate acts as the main security gateway.</a:t>
            </a:r>
          </a:p>
          <a:p>
            <a:pPr marL="342900" indent="-342900" algn="l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The switch distributes traffic to departments individually.</a:t>
            </a:r>
          </a:p>
          <a:p>
            <a:pPr marL="342900" indent="-342900" algn="l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Each department is isolated using VLANs.</a:t>
            </a:r>
          </a:p>
          <a:p>
            <a:pPr marL="342900" indent="-342900" algn="l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The router is used for external routing or ISP communication.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FCFDC8D-F433-8442-D5C4-585027D5D104}"/>
              </a:ext>
            </a:extLst>
          </p:cNvPr>
          <p:cNvSpPr txBox="1"/>
          <p:nvPr/>
        </p:nvSpPr>
        <p:spPr>
          <a:xfrm>
            <a:off x="2902332" y="1237505"/>
            <a:ext cx="13063720" cy="1179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7354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Network Topology Overview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3CEE97B-1180-6400-88DD-A291A6723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B11A3BA-A7F6-1C68-B8E1-49812FE82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597DAA1-B766-682A-14EA-A4D13729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97451" y="2416802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2B89BD7-E008-573A-717B-83DE2EF51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210270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991833D-3744-7AD7-E804-B008292AB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364188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CC81048-C522-FBAD-771F-99ED332D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5B9192-50BD-91E5-AEDD-B7C09BB4B7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7259" y="3232196"/>
            <a:ext cx="8268341" cy="570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80261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54241" y="1719305"/>
            <a:ext cx="8719027" cy="2706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7354" dirty="0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VLANs Summary</a:t>
            </a:r>
          </a:p>
          <a:p>
            <a:pPr algn="ctr">
              <a:lnSpc>
                <a:spcPts val="10296"/>
              </a:lnSpc>
              <a:spcBef>
                <a:spcPct val="0"/>
              </a:spcBef>
            </a:pPr>
            <a:endParaRPr lang="en-US" sz="7354" dirty="0">
              <a:solidFill>
                <a:srgbClr val="D7FDFF"/>
              </a:solidFill>
              <a:latin typeface="Alegreya Sans SC"/>
              <a:ea typeface="Alegreya Sans SC"/>
              <a:cs typeface="Alegreya Sans SC"/>
              <a:sym typeface="Alegreya Sans SC"/>
            </a:endParaRPr>
          </a:p>
        </p:txBody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343097" y="4028872"/>
            <a:ext cx="6258128" cy="6258128"/>
          </a:xfrm>
          <a:custGeom>
            <a:avLst/>
            <a:gdLst/>
            <a:ahLst/>
            <a:cxnLst/>
            <a:rect l="l" t="t" r="r" b="b"/>
            <a:pathLst>
              <a:path w="6258128" h="6258128">
                <a:moveTo>
                  <a:pt x="0" y="0"/>
                </a:moveTo>
                <a:lnTo>
                  <a:pt x="6258128" y="0"/>
                </a:lnTo>
                <a:lnTo>
                  <a:pt x="6258128" y="6258128"/>
                </a:lnTo>
                <a:lnTo>
                  <a:pt x="0" y="6258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7855104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1500949" y="186979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1" y="0"/>
                </a:moveTo>
                <a:lnTo>
                  <a:pt x="0" y="0"/>
                </a:lnTo>
                <a:lnTo>
                  <a:pt x="0" y="4956521"/>
                </a:lnTo>
                <a:lnTo>
                  <a:pt x="3772661" y="4956521"/>
                </a:lnTo>
                <a:lnTo>
                  <a:pt x="37726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5584447" y="-348970"/>
            <a:ext cx="7128693" cy="7128693"/>
          </a:xfrm>
          <a:custGeom>
            <a:avLst/>
            <a:gdLst/>
            <a:ahLst/>
            <a:cxnLst/>
            <a:rect l="l" t="t" r="r" b="b"/>
            <a:pathLst>
              <a:path w="7128693" h="7128693">
                <a:moveTo>
                  <a:pt x="7128692" y="0"/>
                </a:moveTo>
                <a:lnTo>
                  <a:pt x="0" y="0"/>
                </a:lnTo>
                <a:lnTo>
                  <a:pt x="0" y="7128693"/>
                </a:lnTo>
                <a:lnTo>
                  <a:pt x="7128692" y="7128693"/>
                </a:lnTo>
                <a:lnTo>
                  <a:pt x="7128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5765482" y="6788175"/>
            <a:ext cx="2736552" cy="3595280"/>
          </a:xfrm>
          <a:custGeom>
            <a:avLst/>
            <a:gdLst/>
            <a:ahLst/>
            <a:cxnLst/>
            <a:rect l="l" t="t" r="r" b="b"/>
            <a:pathLst>
              <a:path w="2736552" h="3595280">
                <a:moveTo>
                  <a:pt x="2736551" y="0"/>
                </a:moveTo>
                <a:lnTo>
                  <a:pt x="0" y="0"/>
                </a:lnTo>
                <a:lnTo>
                  <a:pt x="0" y="3595281"/>
                </a:lnTo>
                <a:lnTo>
                  <a:pt x="2736551" y="3595281"/>
                </a:lnTo>
                <a:lnTo>
                  <a:pt x="27365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3719603"/>
            <a:ext cx="16669112" cy="413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655" lvl="1" indent="-315328" algn="just">
              <a:lnSpc>
                <a:spcPts val="4089"/>
              </a:lnSpc>
              <a:buFont typeface="Arial"/>
              <a:buChar char="•"/>
            </a:pPr>
            <a:r>
              <a:rPr lang="en-US" sz="2921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VLAN10 – Management: Used for administrative access and infrastructure management</a:t>
            </a:r>
          </a:p>
          <a:p>
            <a:pPr marL="630655" lvl="1" indent="-315328" algn="just">
              <a:lnSpc>
                <a:spcPts val="4089"/>
              </a:lnSpc>
              <a:buFont typeface="Arial"/>
              <a:buChar char="•"/>
            </a:pPr>
            <a:r>
              <a:rPr lang="en-US" sz="2921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VLAN20 – HR: Dedicated to HR systems such as employee records and payroll.</a:t>
            </a:r>
          </a:p>
          <a:p>
            <a:pPr marL="630655" lvl="1" indent="-315328" algn="just">
              <a:lnSpc>
                <a:spcPts val="4089"/>
              </a:lnSpc>
              <a:buFont typeface="Arial"/>
              <a:buChar char="•"/>
            </a:pPr>
            <a:r>
              <a:rPr lang="en-US" sz="2921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VLAN30 – IT: Assigned to IT operations, system maintenance, and server administration.</a:t>
            </a:r>
          </a:p>
          <a:p>
            <a:pPr marL="630655" lvl="1" indent="-315328" algn="just">
              <a:lnSpc>
                <a:spcPts val="4089"/>
              </a:lnSpc>
              <a:buFont typeface="Arial"/>
              <a:buChar char="•"/>
            </a:pPr>
            <a:r>
              <a:rPr lang="en-US" sz="2921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VLAN40 – Finance: Used by the Finance department for sensitive financial data and applications.</a:t>
            </a:r>
          </a:p>
          <a:p>
            <a:pPr marL="630655" lvl="1" indent="-315328" algn="just">
              <a:lnSpc>
                <a:spcPts val="4089"/>
              </a:lnSpc>
              <a:buFont typeface="Arial"/>
              <a:buChar char="•"/>
            </a:pPr>
            <a:r>
              <a:rPr lang="en-US" sz="2921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VLAN50 – Sales: Connected to CRM tools and customer-related systems.</a:t>
            </a:r>
          </a:p>
          <a:p>
            <a:pPr marL="630655" lvl="1" indent="-315328" algn="just">
              <a:lnSpc>
                <a:spcPts val="4089"/>
              </a:lnSpc>
              <a:buFont typeface="Arial"/>
              <a:buChar char="•"/>
            </a:pPr>
            <a:r>
              <a:rPr lang="en-US" sz="2921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VLAN60 – Marketing: Provides internet-based functionality with limited internal resource access.</a:t>
            </a:r>
          </a:p>
          <a:p>
            <a:pPr marL="630655" lvl="1" indent="-315328" algn="just">
              <a:lnSpc>
                <a:spcPts val="4089"/>
              </a:lnSpc>
              <a:buFont typeface="Arial"/>
              <a:buChar char="•"/>
            </a:pPr>
            <a:r>
              <a:rPr lang="en-US" sz="2921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VLAN70 – Guests: Offers internet access only, with full isolation from internal networks.</a:t>
            </a:r>
          </a:p>
          <a:p>
            <a:pPr marL="630655" lvl="1" indent="-315328" algn="just">
              <a:lnSpc>
                <a:spcPts val="4089"/>
              </a:lnSpc>
              <a:buFont typeface="Arial"/>
              <a:buChar char="•"/>
            </a:pPr>
            <a:r>
              <a:rPr lang="en-US" sz="2921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VLAN80 – Servers: Hosts internal servers and critical organizational services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6A6FB-F6C5-21A4-E75F-B9B79E4AD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7C1ACF-6739-6A78-2EC0-01188AAD1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F5CF7AF-690C-F029-9DA3-708DBACA8FAC}"/>
              </a:ext>
            </a:extLst>
          </p:cNvPr>
          <p:cNvSpPr txBox="1"/>
          <p:nvPr/>
        </p:nvSpPr>
        <p:spPr>
          <a:xfrm>
            <a:off x="2915032" y="281730"/>
            <a:ext cx="13063720" cy="1179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7354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IP Addressing Plan (Example)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5C380F3-B6C4-1028-2B8C-9573B2953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D1EAEB3-D01F-1103-142B-975B62221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C7DD5F3-6C20-5178-4CCA-CC6AE3161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209211" y="172123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1BDD510-F850-86E3-B626-8F083C9BA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210270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B48825C-FBF2-9C6C-273E-3B4F892FA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364188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7258ABE-0982-EF36-C81F-433835721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710E00F-4194-653E-1DD8-8E141B177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50344"/>
              </p:ext>
            </p:extLst>
          </p:nvPr>
        </p:nvGraphicFramePr>
        <p:xfrm>
          <a:off x="34415" y="1400175"/>
          <a:ext cx="7356050" cy="75340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8604">
                  <a:extLst>
                    <a:ext uri="{9D8B030D-6E8A-4147-A177-3AD203B41FA5}">
                      <a16:colId xmlns:a16="http://schemas.microsoft.com/office/drawing/2014/main" val="1964553522"/>
                    </a:ext>
                  </a:extLst>
                </a:gridCol>
                <a:gridCol w="1860181">
                  <a:extLst>
                    <a:ext uri="{9D8B030D-6E8A-4147-A177-3AD203B41FA5}">
                      <a16:colId xmlns:a16="http://schemas.microsoft.com/office/drawing/2014/main" val="1785652395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4040560384"/>
                    </a:ext>
                  </a:extLst>
                </a:gridCol>
                <a:gridCol w="2285065">
                  <a:extLst>
                    <a:ext uri="{9D8B030D-6E8A-4147-A177-3AD203B41FA5}">
                      <a16:colId xmlns:a16="http://schemas.microsoft.com/office/drawing/2014/main" val="1004590915"/>
                    </a:ext>
                  </a:extLst>
                </a:gridCol>
              </a:tblGrid>
              <a:tr h="633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VLAN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Department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Subnet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Notes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8935986"/>
                  </a:ext>
                </a:extLst>
              </a:tr>
              <a:tr h="63371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10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Management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192.168.10.0/24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DHCP enabled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98567611"/>
                  </a:ext>
                </a:extLst>
              </a:tr>
              <a:tr h="105157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20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HR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192.168.20.0/24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00" dirty="0">
                          <a:effectLst/>
                        </a:rPr>
                        <a:t>DHCP enabled 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4086026"/>
                  </a:ext>
                </a:extLst>
              </a:tr>
              <a:tr h="107948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30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IT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192.168.30.0/24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Sensitive traffic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00" dirty="0">
                          <a:effectLst/>
                        </a:rPr>
                        <a:t>DHCP enabled 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8630799"/>
                  </a:ext>
                </a:extLst>
              </a:tr>
              <a:tr h="88655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40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Finance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192.168.40.0/24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DHCP enabled 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1150697"/>
                  </a:ext>
                </a:extLst>
              </a:tr>
              <a:tr h="63371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50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Sales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192.168.50.0/24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DHCP enabled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440857"/>
                  </a:ext>
                </a:extLst>
              </a:tr>
              <a:tr h="63371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60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Marketing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192.168.60.0/24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DHCP enabled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62302974"/>
                  </a:ext>
                </a:extLst>
              </a:tr>
              <a:tr h="134786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70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Guests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192.168.70.0/24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Internet only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00" dirty="0">
                          <a:effectLst/>
                        </a:rPr>
                        <a:t>Isolated from others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5836635"/>
                  </a:ext>
                </a:extLst>
              </a:tr>
              <a:tr h="63371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80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Servers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192.168.100.0/24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Static IPs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9427449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A540F3B-0F8D-E323-5471-5E9A90AB67E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" r="41172" b="4829"/>
          <a:stretch>
            <a:fillRect/>
          </a:stretch>
        </p:blipFill>
        <p:spPr>
          <a:xfrm>
            <a:off x="8248096" y="1441731"/>
            <a:ext cx="9923406" cy="749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5717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97489" y="3453245"/>
            <a:ext cx="15541111" cy="5294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904" spc="-15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To simplify policy creation and ensure consistent control, we organized the environment into several Address Groups:</a:t>
            </a:r>
          </a:p>
          <a:p>
            <a:pPr marL="627155" lvl="1" indent="-313577" algn="just">
              <a:lnSpc>
                <a:spcPct val="150000"/>
              </a:lnSpc>
              <a:buFont typeface="Arial"/>
              <a:buChar char="•"/>
            </a:pPr>
            <a:r>
              <a:rPr lang="en-US" sz="2904" spc="-15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Access Internet : VLAN60 and 70; internet access only.</a:t>
            </a:r>
          </a:p>
          <a:p>
            <a:pPr marL="627155" lvl="1" indent="-313577" algn="just">
              <a:lnSpc>
                <a:spcPct val="150000"/>
              </a:lnSpc>
              <a:buFont typeface="Arial"/>
              <a:buChar char="•"/>
            </a:pPr>
            <a:r>
              <a:rPr lang="en-US" sz="2904" spc="-15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Access Server: VLAN20</a:t>
            </a:r>
            <a:r>
              <a:rPr lang="ar-EG" sz="2904" spc="-15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904" spc="-15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,40 and 50 ; access to specific internal servers.</a:t>
            </a:r>
          </a:p>
          <a:p>
            <a:pPr marL="627155" lvl="1" indent="-313577" algn="just">
              <a:lnSpc>
                <a:spcPct val="150000"/>
              </a:lnSpc>
              <a:buFont typeface="Arial"/>
              <a:buChar char="•"/>
            </a:pPr>
            <a:r>
              <a:rPr lang="en-US" sz="2904" spc="-15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Network Maintenance: Includes multiple VLANs to support monitoring and administrative tasks.</a:t>
            </a:r>
          </a:p>
          <a:p>
            <a:pPr marL="627155" lvl="1" indent="-313577" algn="just">
              <a:lnSpc>
                <a:spcPct val="150000"/>
              </a:lnSpc>
              <a:buFont typeface="Arial"/>
              <a:buChar char="•"/>
            </a:pPr>
            <a:r>
              <a:rPr lang="en-US" sz="2904" spc="-15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Protected VLANs: All internal network that must remain isolated from guest access.</a:t>
            </a:r>
          </a:p>
          <a:p>
            <a:pPr marL="627155" lvl="1" indent="-313577" algn="just">
              <a:lnSpc>
                <a:spcPct val="150000"/>
              </a:lnSpc>
              <a:buFont typeface="Arial"/>
              <a:buChar char="•"/>
            </a:pPr>
            <a:r>
              <a:rPr lang="en-US" sz="2904" spc="-15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Admins: VLAN10 and 30 for IT and Heads to manage and monitor</a:t>
            </a:r>
          </a:p>
          <a:p>
            <a:pPr algn="just">
              <a:lnSpc>
                <a:spcPct val="150000"/>
              </a:lnSpc>
            </a:pPr>
            <a:endParaRPr lang="en-US" sz="2904" spc="-15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000758" y="1190036"/>
            <a:ext cx="11612793" cy="270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Address Groups Overview</a:t>
            </a:r>
          </a:p>
          <a:p>
            <a:pPr algn="ctr">
              <a:lnSpc>
                <a:spcPts val="10296"/>
              </a:lnSpc>
              <a:spcBef>
                <a:spcPct val="0"/>
              </a:spcBef>
            </a:pPr>
            <a:endParaRPr lang="en-US" sz="7354" b="1">
              <a:solidFill>
                <a:srgbClr val="D7FDFF"/>
              </a:solidFill>
              <a:latin typeface="Alegreya Sans SC Bold"/>
              <a:ea typeface="Alegreya Sans SC Bold"/>
              <a:cs typeface="Alegreya Sans SC Bold"/>
              <a:sym typeface="Alegreya Sans SC Bold"/>
            </a:endParaRPr>
          </a:p>
        </p:txBody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222889" y="-387411"/>
            <a:ext cx="2567706" cy="3373451"/>
          </a:xfrm>
          <a:custGeom>
            <a:avLst/>
            <a:gdLst/>
            <a:ahLst/>
            <a:cxnLst/>
            <a:rect l="l" t="t" r="r" b="b"/>
            <a:pathLst>
              <a:path w="2567706" h="3373451">
                <a:moveTo>
                  <a:pt x="0" y="3373452"/>
                </a:moveTo>
                <a:lnTo>
                  <a:pt x="2567706" y="3373452"/>
                </a:lnTo>
                <a:lnTo>
                  <a:pt x="2567706" y="0"/>
                </a:lnTo>
                <a:lnTo>
                  <a:pt x="0" y="0"/>
                </a:lnTo>
                <a:lnTo>
                  <a:pt x="0" y="33734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414140" y="264470"/>
            <a:ext cx="3274057" cy="4301455"/>
          </a:xfrm>
          <a:custGeom>
            <a:avLst/>
            <a:gdLst/>
            <a:ahLst/>
            <a:cxnLst/>
            <a:rect l="l" t="t" r="r" b="b"/>
            <a:pathLst>
              <a:path w="3274057" h="4301455">
                <a:moveTo>
                  <a:pt x="3274058" y="0"/>
                </a:moveTo>
                <a:lnTo>
                  <a:pt x="0" y="0"/>
                </a:lnTo>
                <a:lnTo>
                  <a:pt x="0" y="4301455"/>
                </a:lnTo>
                <a:lnTo>
                  <a:pt x="3274058" y="4301455"/>
                </a:lnTo>
                <a:lnTo>
                  <a:pt x="327405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613551" y="7454036"/>
            <a:ext cx="2582789" cy="3393268"/>
          </a:xfrm>
          <a:custGeom>
            <a:avLst/>
            <a:gdLst/>
            <a:ahLst/>
            <a:cxnLst/>
            <a:rect l="l" t="t" r="r" b="b"/>
            <a:pathLst>
              <a:path w="2582789" h="3393268">
                <a:moveTo>
                  <a:pt x="0" y="3393268"/>
                </a:moveTo>
                <a:lnTo>
                  <a:pt x="2582790" y="3393268"/>
                </a:lnTo>
                <a:lnTo>
                  <a:pt x="2582790" y="0"/>
                </a:lnTo>
                <a:lnTo>
                  <a:pt x="0" y="0"/>
                </a:lnTo>
                <a:lnTo>
                  <a:pt x="0" y="33932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6078150" y="6216062"/>
            <a:ext cx="3293290" cy="4326723"/>
          </a:xfrm>
          <a:custGeom>
            <a:avLst/>
            <a:gdLst/>
            <a:ahLst/>
            <a:cxnLst/>
            <a:rect l="l" t="t" r="r" b="b"/>
            <a:pathLst>
              <a:path w="3293290" h="4326723">
                <a:moveTo>
                  <a:pt x="3293290" y="0"/>
                </a:moveTo>
                <a:lnTo>
                  <a:pt x="0" y="0"/>
                </a:lnTo>
                <a:lnTo>
                  <a:pt x="0" y="4326722"/>
                </a:lnTo>
                <a:lnTo>
                  <a:pt x="3293290" y="4326722"/>
                </a:lnTo>
                <a:lnTo>
                  <a:pt x="32932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1086558" y="6425555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239162" y="5259319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15390121" y="1822870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4542725" y="656634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429305" y="3398045"/>
            <a:ext cx="12960816" cy="4398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0"/>
              </a:lnSpc>
            </a:pPr>
            <a:r>
              <a:rPr lang="en-US" sz="2492" spc="3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We configured a Loopback interface on router to see that we can access the other branch for administrative and monitoring functions.</a:t>
            </a:r>
          </a:p>
          <a:p>
            <a:pPr algn="just">
              <a:lnSpc>
                <a:spcPts val="3490"/>
              </a:lnSpc>
            </a:pPr>
            <a:r>
              <a:rPr lang="en-US" sz="2492" spc="3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It is used for:</a:t>
            </a:r>
          </a:p>
          <a:p>
            <a:pPr marL="538208" lvl="1" indent="-269104" algn="just">
              <a:lnSpc>
                <a:spcPts val="3490"/>
              </a:lnSpc>
              <a:buFont typeface="Arial"/>
              <a:buChar char="•"/>
            </a:pPr>
            <a:r>
              <a:rPr lang="en-US" sz="2492" spc="3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SNMP monitoring</a:t>
            </a:r>
          </a:p>
          <a:p>
            <a:pPr marL="538208" lvl="1" indent="-269104" algn="just">
              <a:lnSpc>
                <a:spcPts val="3490"/>
              </a:lnSpc>
              <a:buFont typeface="Arial"/>
              <a:buChar char="•"/>
            </a:pPr>
            <a:r>
              <a:rPr lang="en-US" sz="2492" spc="3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SSH management</a:t>
            </a:r>
          </a:p>
          <a:p>
            <a:pPr marL="538208" lvl="1" indent="-269104" algn="just">
              <a:lnSpc>
                <a:spcPts val="3490"/>
              </a:lnSpc>
              <a:buFont typeface="Arial"/>
              <a:buChar char="•"/>
            </a:pPr>
            <a:r>
              <a:rPr lang="en-US" sz="2492" spc="3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Ping testing</a:t>
            </a:r>
          </a:p>
          <a:p>
            <a:pPr algn="just">
              <a:lnSpc>
                <a:spcPts val="3490"/>
              </a:lnSpc>
            </a:pPr>
            <a:r>
              <a:rPr lang="en-US" sz="2492" spc="3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This approach ensures stable and reliable management access.</a:t>
            </a:r>
          </a:p>
          <a:p>
            <a:pPr algn="just">
              <a:lnSpc>
                <a:spcPts val="3490"/>
              </a:lnSpc>
            </a:pPr>
            <a:r>
              <a:rPr lang="en-US" sz="2492" spc="3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This works after make static route on the FortiGate to see the loopback network</a:t>
            </a:r>
          </a:p>
          <a:p>
            <a:pPr algn="l">
              <a:lnSpc>
                <a:spcPts val="2769"/>
              </a:lnSpc>
              <a:spcBef>
                <a:spcPct val="0"/>
              </a:spcBef>
            </a:pPr>
            <a:endParaRPr lang="en-US" sz="2492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784486" y="1492097"/>
            <a:ext cx="8719027" cy="119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8000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Loopback Interface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323D3-66C7-7BB4-433E-3E1AC8666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1213C1-D355-8289-88E5-AC8C562A8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177636" y="6414005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611900D-2473-FAF7-C841-42534C27C861}"/>
              </a:ext>
            </a:extLst>
          </p:cNvPr>
          <p:cNvSpPr txBox="1"/>
          <p:nvPr/>
        </p:nvSpPr>
        <p:spPr>
          <a:xfrm>
            <a:off x="1352733" y="3633364"/>
            <a:ext cx="14195332" cy="3492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200" u="sng" spc="3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Overall Configuration:</a:t>
            </a:r>
            <a:endParaRPr lang="ar-EG" sz="3200" u="sng" spc="3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342900" indent="-342900" algn="l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Interfaces: Create VLAN interfaces and assign IPs.</a:t>
            </a:r>
          </a:p>
          <a:p>
            <a:pPr marL="342900" indent="-342900" algn="l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DHCP: Enable DHCP Server for user VLANs.</a:t>
            </a:r>
          </a:p>
          <a:p>
            <a:pPr marL="342900" indent="-342900" algn="l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NAT: Apply NAT for outbound internet traffic.</a:t>
            </a:r>
          </a:p>
          <a:p>
            <a:pPr marL="342900" indent="-342900" algn="l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Policies: Allow or deny traffic between VLANs based on requirements.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159D9D7-0BEA-F680-354F-7BE541A75D46}"/>
              </a:ext>
            </a:extLst>
          </p:cNvPr>
          <p:cNvSpPr txBox="1"/>
          <p:nvPr/>
        </p:nvSpPr>
        <p:spPr>
          <a:xfrm>
            <a:off x="3048000" y="1281691"/>
            <a:ext cx="10557164" cy="1195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8000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FortiGate Firewall</a:t>
            </a:r>
            <a:endParaRPr lang="en-US" sz="3600" dirty="0">
              <a:solidFill>
                <a:srgbClr val="D7FDFF"/>
              </a:solidFill>
              <a:latin typeface="Alegreya Sans SC Bold"/>
              <a:ea typeface="Alegreya Sans SC Bold"/>
              <a:cs typeface="Alegreya Sans SC Bold"/>
              <a:sym typeface="Alegreya Sans SC Bold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5E8DAAB-EE26-FD65-3168-78C583DAE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427697F-79C6-E043-FD53-DA14D11CE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7EE1CDB-6C02-3EEE-C007-FA81FE292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210270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59AFF5A-BDE0-364A-92BB-660522DF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364188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CD12B58-72C6-60F0-A16A-F9610C19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029944" y="879732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73979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739935" y="3462269"/>
            <a:ext cx="12808130" cy="421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Our policies are divided into three main categories:</a:t>
            </a:r>
          </a:p>
          <a:p>
            <a:pPr algn="ctr">
              <a:lnSpc>
                <a:spcPts val="5600"/>
              </a:lnSpc>
            </a:pPr>
            <a:endParaRPr lang="en-US" sz="400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863601" lvl="1" indent="-431801" algn="l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Internal Access</a:t>
            </a:r>
          </a:p>
          <a:p>
            <a:pPr marL="863601" lvl="1" indent="-431801" algn="l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Internet Access</a:t>
            </a:r>
          </a:p>
          <a:p>
            <a:pPr marL="863601" lvl="1" indent="-431801" algn="l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Protection &amp; Isolation</a:t>
            </a:r>
          </a:p>
          <a:p>
            <a:pPr algn="ctr">
              <a:lnSpc>
                <a:spcPts val="5600"/>
              </a:lnSpc>
              <a:spcBef>
                <a:spcPct val="0"/>
              </a:spcBef>
            </a:pPr>
            <a:endParaRPr lang="en-US" sz="400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784487" y="1828323"/>
            <a:ext cx="8719027" cy="270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Policy Categories</a:t>
            </a:r>
          </a:p>
          <a:p>
            <a:pPr algn="ctr">
              <a:lnSpc>
                <a:spcPts val="10296"/>
              </a:lnSpc>
              <a:spcBef>
                <a:spcPct val="0"/>
              </a:spcBef>
            </a:pPr>
            <a:endParaRPr lang="en-US" sz="7354" b="1">
              <a:solidFill>
                <a:srgbClr val="D7FDFF"/>
              </a:solidFill>
              <a:latin typeface="Alegreya Sans SC Bold"/>
              <a:ea typeface="Alegreya Sans SC Bold"/>
              <a:cs typeface="Alegreya Sans SC Bold"/>
              <a:sym typeface="Alegreya Sans SC Bold"/>
            </a:endParaRP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209211" y="172123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210270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364188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3C2C22-3889-6AD1-FB29-5A51546A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CAD8DC0-1DF6-0977-4064-819C35947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89864" y="6414005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80DFE9F-DBB1-6186-9534-47D8A3BCF5A8}"/>
              </a:ext>
            </a:extLst>
          </p:cNvPr>
          <p:cNvSpPr txBox="1"/>
          <p:nvPr/>
        </p:nvSpPr>
        <p:spPr>
          <a:xfrm>
            <a:off x="3366942" y="1969529"/>
            <a:ext cx="12808130" cy="647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1. GUEST &amp; Marketing  can access Internet with NAT</a:t>
            </a:r>
            <a:endParaRPr lang="en-US" sz="20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6381E92-1D19-B7FE-D6D6-73D880D0FC3E}"/>
              </a:ext>
            </a:extLst>
          </p:cNvPr>
          <p:cNvSpPr txBox="1"/>
          <p:nvPr/>
        </p:nvSpPr>
        <p:spPr>
          <a:xfrm>
            <a:off x="2739935" y="378337"/>
            <a:ext cx="14195332" cy="1195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8000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Firewall Policies — Examples</a:t>
            </a:r>
            <a:endParaRPr lang="en-US" sz="8000" dirty="0">
              <a:solidFill>
                <a:srgbClr val="D7FDFF"/>
              </a:solidFill>
              <a:latin typeface="Alegreya Sans SC Bold"/>
              <a:ea typeface="Alegreya Sans SC Bold"/>
              <a:cs typeface="Alegreya Sans SC Bold"/>
              <a:sym typeface="Alegreya Sans SC Bold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0BE64BE-261B-487E-5CB3-08359C846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2C7ED6B-FE2D-0783-92D4-577FC4D55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4D4310B-1F05-5976-56EC-5FE041BC6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209211" y="172123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A3D66A9-9ABC-4525-D67C-3DD0524EA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-132429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9E864BC-2CFE-5CA5-BBC3-18A346B62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1020027" y="-965211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633AEB8-1596-07E9-14BC-843D0578F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A401E7-9245-C98A-1F28-580B84C4D1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8842" y="2808708"/>
            <a:ext cx="12808130" cy="2037320"/>
          </a:xfrm>
          <a:prstGeom prst="rect">
            <a:avLst/>
          </a:prstGeom>
        </p:spPr>
      </p:pic>
      <p:sp>
        <p:nvSpPr>
          <p:cNvPr id="13" name="TextBox 3">
            <a:extLst>
              <a:ext uri="{FF2B5EF4-FFF2-40B4-BE49-F238E27FC236}">
                <a16:creationId xmlns:a16="http://schemas.microsoft.com/office/drawing/2014/main" id="{7988579E-C018-A4EA-9615-3D9D5431BC59}"/>
              </a:ext>
            </a:extLst>
          </p:cNvPr>
          <p:cNvSpPr txBox="1"/>
          <p:nvPr/>
        </p:nvSpPr>
        <p:spPr>
          <a:xfrm>
            <a:off x="3328842" y="4897552"/>
            <a:ext cx="12808130" cy="647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2. Protect Internal VLANS from GUEST</a:t>
            </a:r>
            <a:endParaRPr lang="en-US" sz="20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A04325-8205-9424-C886-32F7AB0593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8842" y="5681724"/>
            <a:ext cx="12808130" cy="302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6488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B35C43-5B5A-53E8-9742-5DDB3BB73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85AC2E-4B71-4413-6967-AE793EB46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89864" y="6414005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E6FA892-EDAF-FA3A-49A3-25382B6D501D}"/>
              </a:ext>
            </a:extLst>
          </p:cNvPr>
          <p:cNvSpPr txBox="1"/>
          <p:nvPr/>
        </p:nvSpPr>
        <p:spPr>
          <a:xfrm>
            <a:off x="3366942" y="1969529"/>
            <a:ext cx="12808130" cy="633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3. Servers to internet (for updates only) scheduled with NAT </a:t>
            </a:r>
            <a:endParaRPr lang="en-US" sz="20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B4E0087-074E-3132-3716-EB0C832E1521}"/>
              </a:ext>
            </a:extLst>
          </p:cNvPr>
          <p:cNvSpPr txBox="1"/>
          <p:nvPr/>
        </p:nvSpPr>
        <p:spPr>
          <a:xfrm>
            <a:off x="2739935" y="378337"/>
            <a:ext cx="14195332" cy="1195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8000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Firewall Policies — Examples</a:t>
            </a:r>
            <a:endParaRPr lang="en-US" sz="8000" dirty="0">
              <a:solidFill>
                <a:srgbClr val="D7FDFF"/>
              </a:solidFill>
              <a:latin typeface="Alegreya Sans SC Bold"/>
              <a:ea typeface="Alegreya Sans SC Bold"/>
              <a:cs typeface="Alegreya Sans SC Bold"/>
              <a:sym typeface="Alegreya Sans SC Bold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72D50D6-517F-0144-AB6A-3BCC93AB0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4E52F41-08C2-02DC-3652-BEE0E040E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3CA3760-FD94-F05B-7905-47F0C7D8B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209211" y="172123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E99CA89-AE82-E986-5DA7-A72EADD6D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-132429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4EDAA1E-8FAE-BE7D-8EFA-ADA4E935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1020027" y="-965211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F158C2F-59AB-343A-A090-75820AE0C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CE304B0-85CB-337D-4E75-0A0AF34F2850}"/>
              </a:ext>
            </a:extLst>
          </p:cNvPr>
          <p:cNvSpPr txBox="1"/>
          <p:nvPr/>
        </p:nvSpPr>
        <p:spPr>
          <a:xfrm>
            <a:off x="3328842" y="4897552"/>
            <a:ext cx="12808130" cy="647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4. Admins to all VLANS for monitoring and management</a:t>
            </a:r>
            <a:endParaRPr lang="en-US" sz="20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FA5AFB-DC29-0441-2365-2362987051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8841" y="5575943"/>
            <a:ext cx="12219223" cy="31467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9F7F5E5-1090-FC10-B261-1A553311BB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8842" y="2697826"/>
            <a:ext cx="12219222" cy="232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8259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EDCBF-1759-6D26-BF7E-21DB39F4F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37D014-CF7A-8C5D-01A1-C11144405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89864" y="6414005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E62CEC6-DB67-67AC-9DF8-78DF5A061A45}"/>
              </a:ext>
            </a:extLst>
          </p:cNvPr>
          <p:cNvSpPr txBox="1"/>
          <p:nvPr/>
        </p:nvSpPr>
        <p:spPr>
          <a:xfrm>
            <a:off x="3328842" y="1835114"/>
            <a:ext cx="12808130" cy="633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5. Other branch can access Internet </a:t>
            </a:r>
            <a:endParaRPr lang="en-US" sz="20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F484C50-FEC4-7D4F-B4CE-85A743A229B9}"/>
              </a:ext>
            </a:extLst>
          </p:cNvPr>
          <p:cNvSpPr txBox="1"/>
          <p:nvPr/>
        </p:nvSpPr>
        <p:spPr>
          <a:xfrm>
            <a:off x="2739935" y="378337"/>
            <a:ext cx="14195332" cy="1195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8000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Firewall Policies — Examples</a:t>
            </a:r>
            <a:endParaRPr lang="en-US" sz="8000" dirty="0">
              <a:solidFill>
                <a:srgbClr val="D7FDFF"/>
              </a:solidFill>
              <a:latin typeface="Alegreya Sans SC Bold"/>
              <a:ea typeface="Alegreya Sans SC Bold"/>
              <a:cs typeface="Alegreya Sans SC Bold"/>
              <a:sym typeface="Alegreya Sans SC Bold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5F13016-0D6F-9D91-407B-7D3E588B4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D3BCC68-BAE6-C30B-2EA0-4D824CAF2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526991C-9419-9407-9BC8-4EAD25ABD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209211" y="172123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4836D35-799F-FC0C-016F-F9078CDE8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-132429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EB4727F-3FDF-C114-6F49-09E5CBC30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1020027" y="-965211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61CBC5F-2D5D-319A-24CC-ADE00916C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42B4A32C-6A16-0378-231A-B06856470FA0}"/>
              </a:ext>
            </a:extLst>
          </p:cNvPr>
          <p:cNvSpPr txBox="1"/>
          <p:nvPr/>
        </p:nvSpPr>
        <p:spPr>
          <a:xfrm>
            <a:off x="3328842" y="4530460"/>
            <a:ext cx="12808130" cy="647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6. Other branch can access IT and Heads for data</a:t>
            </a:r>
            <a:endParaRPr lang="en-US" sz="20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26DDAE-D5F5-4B2C-2192-5D5BBC2E14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8842" y="2608157"/>
            <a:ext cx="12181123" cy="19777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E0D1105-A2A6-00CE-8B87-8A1AE634EE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8842" y="5291205"/>
            <a:ext cx="12181123" cy="128557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0E5ABD2-8D9C-EBDD-9760-7906B24586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7091" y="7376625"/>
            <a:ext cx="12244623" cy="1281370"/>
          </a:xfrm>
          <a:prstGeom prst="rect">
            <a:avLst/>
          </a:prstGeom>
        </p:spPr>
      </p:pic>
      <p:sp>
        <p:nvSpPr>
          <p:cNvPr id="23" name="TextBox 3">
            <a:extLst>
              <a:ext uri="{FF2B5EF4-FFF2-40B4-BE49-F238E27FC236}">
                <a16:creationId xmlns:a16="http://schemas.microsoft.com/office/drawing/2014/main" id="{68D1B122-E966-D19A-A972-D09B27E231BE}"/>
              </a:ext>
            </a:extLst>
          </p:cNvPr>
          <p:cNvSpPr txBox="1"/>
          <p:nvPr/>
        </p:nvSpPr>
        <p:spPr>
          <a:xfrm>
            <a:off x="3303442" y="6576776"/>
            <a:ext cx="12808130" cy="647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7. Other branch can access Internal Servers for data and updates</a:t>
            </a:r>
            <a:endParaRPr lang="en-US" sz="20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17205861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BA92F-CE50-0DF5-552B-ACA6745D9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7729C4-FAED-4D2F-DD84-7DEAC52DA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89864" y="6414005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5F5F5EA-EF6F-FE44-CBE1-317DDE4C61D1}"/>
              </a:ext>
            </a:extLst>
          </p:cNvPr>
          <p:cNvSpPr txBox="1"/>
          <p:nvPr/>
        </p:nvSpPr>
        <p:spPr>
          <a:xfrm>
            <a:off x="3366942" y="1969529"/>
            <a:ext cx="12808130" cy="633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8. Admins and Heads can mange and monitor the other branch</a:t>
            </a:r>
            <a:endParaRPr lang="en-US" sz="20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E274F76-1388-8BD8-6E46-E79DFA0CA4E6}"/>
              </a:ext>
            </a:extLst>
          </p:cNvPr>
          <p:cNvSpPr txBox="1"/>
          <p:nvPr/>
        </p:nvSpPr>
        <p:spPr>
          <a:xfrm>
            <a:off x="2739935" y="378337"/>
            <a:ext cx="14195332" cy="1195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8000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Firewall Policies — Examples</a:t>
            </a:r>
            <a:endParaRPr lang="en-US" sz="8000" dirty="0">
              <a:solidFill>
                <a:srgbClr val="D7FDFF"/>
              </a:solidFill>
              <a:latin typeface="Alegreya Sans SC Bold"/>
              <a:ea typeface="Alegreya Sans SC Bold"/>
              <a:cs typeface="Alegreya Sans SC Bold"/>
              <a:sym typeface="Alegreya Sans SC Bold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AF5CAC9-9F80-E2B1-2041-DB06F68F8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E16E576-235D-77A8-2BFF-174CBD65E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43B6DB2-D143-06C2-DC31-7FB3E85F6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209211" y="172123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AE0B328-A839-24B9-2B1D-7A68809B5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-132429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29D0209-F2FB-43A5-16FC-C56BA9ED2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1020027" y="-965211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61CC6CB-3B06-545C-ACAB-F4BF5B6CC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1CE09E26-3571-D1C3-D072-DE530E8FEBB8}"/>
              </a:ext>
            </a:extLst>
          </p:cNvPr>
          <p:cNvSpPr txBox="1"/>
          <p:nvPr/>
        </p:nvSpPr>
        <p:spPr>
          <a:xfrm>
            <a:off x="3328842" y="4743159"/>
            <a:ext cx="12808130" cy="647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9. HR , finance &amp; Marketing can access file from servers</a:t>
            </a:r>
            <a:endParaRPr lang="en-US" sz="20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E009FA-B0A2-E809-F436-95D2AA4614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4242" y="2909416"/>
            <a:ext cx="12181123" cy="16092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7E95B9-5CFC-0E39-A2DE-466E759495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8842" y="5891044"/>
            <a:ext cx="12219223" cy="195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37829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610A1-672D-77A1-FEA5-F2EBE64B7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E1BC6C-E013-AE4C-70E9-CE7659176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752600" y="6166504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375263E-B88F-4FA5-5989-9CE8D4CD1C47}"/>
              </a:ext>
            </a:extLst>
          </p:cNvPr>
          <p:cNvSpPr txBox="1"/>
          <p:nvPr/>
        </p:nvSpPr>
        <p:spPr>
          <a:xfrm>
            <a:off x="907515" y="2806609"/>
            <a:ext cx="9610671" cy="4197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The core switch handles VLAN assignment and traffic distribution.</a:t>
            </a:r>
            <a:br>
              <a:rPr lang="ar-EG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Key configurations:</a:t>
            </a:r>
            <a:endParaRPr lang="ar-EG" sz="24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1714500" lvl="3" indent="-342900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Create VLANs for each department.</a:t>
            </a:r>
          </a:p>
          <a:p>
            <a:pPr marL="1714500" lvl="3" indent="-342900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Set the port connected to FortiGate as a trunk.</a:t>
            </a:r>
          </a:p>
          <a:p>
            <a:pPr marL="1714500" lvl="3" indent="-342900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Assign each user port as access to its correct VLAN.</a:t>
            </a:r>
          </a:p>
          <a:p>
            <a:pPr marL="342900" indent="-342900" algn="l">
              <a:lnSpc>
                <a:spcPts val="56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4DA9713-BC3F-A442-F797-658FA0086DAD}"/>
              </a:ext>
            </a:extLst>
          </p:cNvPr>
          <p:cNvSpPr txBox="1"/>
          <p:nvPr/>
        </p:nvSpPr>
        <p:spPr>
          <a:xfrm>
            <a:off x="3124200" y="1516152"/>
            <a:ext cx="12649200" cy="1195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8000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Core Switch Configuration</a:t>
            </a:r>
            <a:endParaRPr lang="en-US" sz="8000" dirty="0">
              <a:solidFill>
                <a:srgbClr val="D7FDFF"/>
              </a:solidFill>
              <a:latin typeface="Alegreya Sans SC Bold"/>
              <a:ea typeface="Alegreya Sans SC Bold"/>
              <a:cs typeface="Alegreya Sans SC Bold"/>
              <a:sym typeface="Alegreya Sans SC Bold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528B87E-18C7-DA42-EB3E-15D875BC4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A58F809-4AB0-89F6-CCF0-5F6EE7694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EA85860-5C75-A40E-9EC3-0615380F1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-196735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70BC44F-55E7-1211-561E-9E8CF5AF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836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F75EF9-FBA1-5520-E446-01EA815E107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790"/>
          <a:stretch>
            <a:fillRect/>
          </a:stretch>
        </p:blipFill>
        <p:spPr>
          <a:xfrm>
            <a:off x="11353800" y="2806609"/>
            <a:ext cx="6189371" cy="408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1321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18F71-6FD2-0256-AC00-3B073DF5F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C8281E-1660-3373-4197-57EB4007E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752600" y="6122963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3A69EF6-75C1-D10A-C3BB-82D21801AA60}"/>
              </a:ext>
            </a:extLst>
          </p:cNvPr>
          <p:cNvSpPr txBox="1"/>
          <p:nvPr/>
        </p:nvSpPr>
        <p:spPr>
          <a:xfrm>
            <a:off x="793693" y="3126299"/>
            <a:ext cx="8560037" cy="4915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56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Before deploying the network, test:</a:t>
            </a:r>
          </a:p>
          <a:p>
            <a:pPr marL="914400" lvl="1" indent="-457200">
              <a:lnSpc>
                <a:spcPts val="56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Internet access from specific </a:t>
            </a:r>
            <a:r>
              <a:rPr lang="en-US" sz="2000" dirty="0" err="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VAlNS</a:t>
            </a:r>
            <a:r>
              <a:rPr lang="en-US" sz="20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( guest and sales).</a:t>
            </a:r>
            <a:endParaRPr lang="ar-EG" sz="20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14400" lvl="1" indent="-457200">
              <a:lnSpc>
                <a:spcPts val="56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Isolation between departments (e.g., guest cannot reach servers).</a:t>
            </a:r>
            <a:endParaRPr lang="ar-EG" sz="20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14400" lvl="1" indent="-457200">
              <a:lnSpc>
                <a:spcPts val="56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Server access only from authorized VLANs.</a:t>
            </a:r>
            <a:endParaRPr lang="ar-EG" sz="20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14400" lvl="1" indent="-457200">
              <a:lnSpc>
                <a:spcPts val="56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DHCP working properly for each VLAN.</a:t>
            </a:r>
          </a:p>
          <a:p>
            <a:pPr marL="914400" lvl="1" indent="-457200">
              <a:lnSpc>
                <a:spcPts val="56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Firewall logs showing correct allowed/denied traffic.</a:t>
            </a:r>
          </a:p>
          <a:p>
            <a:pPr marL="914400" lvl="1" indent="-457200">
              <a:lnSpc>
                <a:spcPts val="56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Stability under load.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C006FDB-01B5-CE2D-E63E-C066E29C0BBB}"/>
              </a:ext>
            </a:extLst>
          </p:cNvPr>
          <p:cNvSpPr txBox="1"/>
          <p:nvPr/>
        </p:nvSpPr>
        <p:spPr>
          <a:xfrm>
            <a:off x="2949667" y="1827154"/>
            <a:ext cx="14898539" cy="1144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6000" b="1" dirty="0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Testing and Validation</a:t>
            </a:r>
            <a:endParaRPr lang="en-US" sz="6000" dirty="0">
              <a:solidFill>
                <a:srgbClr val="D7FDFF"/>
              </a:solidFill>
              <a:latin typeface="Alegreya Sans SC Bold"/>
              <a:ea typeface="Alegreya Sans SC Bold"/>
              <a:cs typeface="Alegreya Sans SC Bold"/>
              <a:sym typeface="Alegreya Sans SC Bold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B7C7404-51BB-5736-96C2-6F94F7CF6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72FCC40-D19F-7802-10D9-3C31B34DA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A71D5F9-FDA0-6656-2599-3B3512EDB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210270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7266BA0-DAC6-FEF8-CF1A-929C3C946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364188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676F96E-2ED0-39FF-D5C5-CC8AA55F6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42D9D2-150E-7FB6-A09C-A98BCE356A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0"/>
          <a:stretch>
            <a:fillRect/>
          </a:stretch>
        </p:blipFill>
        <p:spPr>
          <a:xfrm>
            <a:off x="9918790" y="2993459"/>
            <a:ext cx="5629275" cy="548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5834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767315" y="-135036"/>
            <a:ext cx="3274057" cy="4301455"/>
          </a:xfrm>
          <a:custGeom>
            <a:avLst/>
            <a:gdLst/>
            <a:ahLst/>
            <a:cxnLst/>
            <a:rect l="l" t="t" r="r" b="b"/>
            <a:pathLst>
              <a:path w="3274057" h="4301455">
                <a:moveTo>
                  <a:pt x="3274057" y="0"/>
                </a:moveTo>
                <a:lnTo>
                  <a:pt x="0" y="0"/>
                </a:lnTo>
                <a:lnTo>
                  <a:pt x="0" y="4301455"/>
                </a:lnTo>
                <a:lnTo>
                  <a:pt x="3274057" y="4301455"/>
                </a:lnTo>
                <a:lnTo>
                  <a:pt x="32740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43116" y="3297697"/>
            <a:ext cx="15107758" cy="469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7"/>
              </a:lnSpc>
            </a:pPr>
            <a:r>
              <a:rPr lang="en-US" sz="2998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Through structured VLAN design, Address Groups, a Loopback interface, and carefully implemented firewall policies, our team achieved:</a:t>
            </a:r>
          </a:p>
          <a:p>
            <a:pPr marL="647357" lvl="1" indent="-323678" algn="just">
              <a:lnSpc>
                <a:spcPts val="4197"/>
              </a:lnSpc>
              <a:buFont typeface="Arial"/>
              <a:buChar char="•"/>
            </a:pPr>
            <a:r>
              <a:rPr lang="en-US" sz="2998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Strong network segmentation</a:t>
            </a:r>
          </a:p>
          <a:p>
            <a:pPr marL="647357" lvl="1" indent="-323678" algn="just">
              <a:lnSpc>
                <a:spcPts val="4197"/>
              </a:lnSpc>
              <a:buFont typeface="Arial"/>
              <a:buChar char="•"/>
            </a:pPr>
            <a:r>
              <a:rPr lang="en-US" sz="2998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Clear and controlled access permissions</a:t>
            </a:r>
          </a:p>
          <a:p>
            <a:pPr marL="647357" lvl="1" indent="-323678" algn="just">
              <a:lnSpc>
                <a:spcPts val="4197"/>
              </a:lnSpc>
              <a:buFont typeface="Arial"/>
              <a:buChar char="•"/>
            </a:pPr>
            <a:r>
              <a:rPr lang="en-US" sz="2998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Protection of critical internal resources</a:t>
            </a:r>
          </a:p>
          <a:p>
            <a:pPr marL="647357" lvl="1" indent="-323678" algn="just">
              <a:lnSpc>
                <a:spcPts val="4197"/>
              </a:lnSpc>
              <a:buFont typeface="Arial"/>
              <a:buChar char="•"/>
            </a:pPr>
            <a:r>
              <a:rPr lang="en-US" sz="2998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Reliable administrative and monitoring capabilities</a:t>
            </a:r>
          </a:p>
          <a:p>
            <a:pPr algn="just">
              <a:lnSpc>
                <a:spcPts val="4197"/>
              </a:lnSpc>
            </a:pPr>
            <a:endParaRPr lang="en-US" sz="2998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algn="just">
              <a:lnSpc>
                <a:spcPts val="4197"/>
              </a:lnSpc>
              <a:spcBef>
                <a:spcPct val="0"/>
              </a:spcBef>
            </a:pPr>
            <a:r>
              <a:rPr lang="en-US" sz="2998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This project demonstrates our team's ability to design and implement a secure, well-organized, and professionally managed network infrastructure.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84487" y="1170880"/>
            <a:ext cx="871902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Conclusion </a:t>
            </a: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222889" y="-387411"/>
            <a:ext cx="2567706" cy="3373451"/>
          </a:xfrm>
          <a:custGeom>
            <a:avLst/>
            <a:gdLst/>
            <a:ahLst/>
            <a:cxnLst/>
            <a:rect l="l" t="t" r="r" b="b"/>
            <a:pathLst>
              <a:path w="2567706" h="3373451">
                <a:moveTo>
                  <a:pt x="0" y="3373452"/>
                </a:moveTo>
                <a:lnTo>
                  <a:pt x="2567706" y="3373452"/>
                </a:lnTo>
                <a:lnTo>
                  <a:pt x="2567706" y="0"/>
                </a:lnTo>
                <a:lnTo>
                  <a:pt x="0" y="0"/>
                </a:lnTo>
                <a:lnTo>
                  <a:pt x="0" y="33734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4786756" y="7403374"/>
            <a:ext cx="2582789" cy="3393268"/>
          </a:xfrm>
          <a:custGeom>
            <a:avLst/>
            <a:gdLst/>
            <a:ahLst/>
            <a:cxnLst/>
            <a:rect l="l" t="t" r="r" b="b"/>
            <a:pathLst>
              <a:path w="2582789" h="3393268">
                <a:moveTo>
                  <a:pt x="0" y="3393267"/>
                </a:moveTo>
                <a:lnTo>
                  <a:pt x="2582789" y="3393267"/>
                </a:lnTo>
                <a:lnTo>
                  <a:pt x="2582789" y="0"/>
                </a:lnTo>
                <a:lnTo>
                  <a:pt x="0" y="0"/>
                </a:lnTo>
                <a:lnTo>
                  <a:pt x="0" y="3393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6078150" y="6216062"/>
            <a:ext cx="3293290" cy="4326723"/>
          </a:xfrm>
          <a:custGeom>
            <a:avLst/>
            <a:gdLst/>
            <a:ahLst/>
            <a:cxnLst/>
            <a:rect l="l" t="t" r="r" b="b"/>
            <a:pathLst>
              <a:path w="3293290" h="4326723">
                <a:moveTo>
                  <a:pt x="3293290" y="0"/>
                </a:moveTo>
                <a:lnTo>
                  <a:pt x="0" y="0"/>
                </a:lnTo>
                <a:lnTo>
                  <a:pt x="0" y="4326722"/>
                </a:lnTo>
                <a:lnTo>
                  <a:pt x="3293290" y="4326722"/>
                </a:lnTo>
                <a:lnTo>
                  <a:pt x="32932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76399" y="2173146"/>
            <a:ext cx="5249238" cy="6896447"/>
          </a:xfrm>
          <a:custGeom>
            <a:avLst/>
            <a:gdLst/>
            <a:ahLst/>
            <a:cxnLst/>
            <a:rect l="l" t="t" r="r" b="b"/>
            <a:pathLst>
              <a:path w="5249238" h="6896447">
                <a:moveTo>
                  <a:pt x="0" y="0"/>
                </a:moveTo>
                <a:lnTo>
                  <a:pt x="5249238" y="0"/>
                </a:lnTo>
                <a:lnTo>
                  <a:pt x="5249238" y="6896447"/>
                </a:lnTo>
                <a:lnTo>
                  <a:pt x="0" y="689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>
            <a:off x="-286818" y="1217407"/>
            <a:ext cx="5208407" cy="6842803"/>
          </a:xfrm>
          <a:custGeom>
            <a:avLst/>
            <a:gdLst/>
            <a:ahLst/>
            <a:cxnLst/>
            <a:rect l="l" t="t" r="r" b="b"/>
            <a:pathLst>
              <a:path w="5208407" h="6842803">
                <a:moveTo>
                  <a:pt x="0" y="0"/>
                </a:moveTo>
                <a:lnTo>
                  <a:pt x="5208407" y="0"/>
                </a:lnTo>
                <a:lnTo>
                  <a:pt x="5208407" y="6842803"/>
                </a:lnTo>
                <a:lnTo>
                  <a:pt x="0" y="684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21589" y="3557484"/>
            <a:ext cx="13366411" cy="3043429"/>
          </a:xfrm>
          <a:custGeom>
            <a:avLst/>
            <a:gdLst/>
            <a:ahLst/>
            <a:cxnLst/>
            <a:rect l="l" t="t" r="r" b="b"/>
            <a:pathLst>
              <a:path w="13366411" h="3043429">
                <a:moveTo>
                  <a:pt x="0" y="0"/>
                </a:moveTo>
                <a:lnTo>
                  <a:pt x="13366411" y="0"/>
                </a:lnTo>
                <a:lnTo>
                  <a:pt x="13366411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80228" y="-659099"/>
            <a:ext cx="11605199" cy="11605199"/>
          </a:xfrm>
          <a:custGeom>
            <a:avLst/>
            <a:gdLst/>
            <a:ahLst/>
            <a:cxnLst/>
            <a:rect l="l" t="t" r="r" b="b"/>
            <a:pathLst>
              <a:path w="11605199" h="11605199">
                <a:moveTo>
                  <a:pt x="0" y="0"/>
                </a:moveTo>
                <a:lnTo>
                  <a:pt x="11605198" y="0"/>
                </a:lnTo>
                <a:lnTo>
                  <a:pt x="11605198" y="11605198"/>
                </a:lnTo>
                <a:lnTo>
                  <a:pt x="0" y="11605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315970" y="4223324"/>
            <a:ext cx="7464258" cy="182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85"/>
              </a:lnSpc>
            </a:pPr>
            <a:r>
              <a:rPr lang="en-US" sz="11866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Thank You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807</Words>
  <Application>Microsoft Office PowerPoint</Application>
  <PresentationFormat>Custom</PresentationFormat>
  <Paragraphs>135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Alegreya Sans SC</vt:lpstr>
      <vt:lpstr>Aptos</vt:lpstr>
      <vt:lpstr>Arial</vt:lpstr>
      <vt:lpstr>Calibri</vt:lpstr>
      <vt:lpstr>Fira Sans</vt:lpstr>
      <vt:lpstr>Alegreya Sans SC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Tosca Black Gradient Abstract Project Presentation</dc:title>
  <dc:creator>Administrator</dc:creator>
  <cp:lastModifiedBy>Ali Ramadan</cp:lastModifiedBy>
  <cp:revision>6</cp:revision>
  <dcterms:created xsi:type="dcterms:W3CDTF">2006-08-16T00:00:00Z</dcterms:created>
  <dcterms:modified xsi:type="dcterms:W3CDTF">2025-12-01T19:10:30Z</dcterms:modified>
  <dc:identifier>DAG5cmkP_zE</dc:identifier>
</cp:coreProperties>
</file>